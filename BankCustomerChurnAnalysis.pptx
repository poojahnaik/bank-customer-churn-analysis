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47AF"/>
    <a:srgbClr val="873E98"/>
    <a:srgbClr val="6F33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0" y="1981199"/>
            <a:ext cx="6309360" cy="2011681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rgbClr val="6F337D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0" y="4084320"/>
            <a:ext cx="6309360" cy="6096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873E9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73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13280"/>
            <a:ext cx="10515600" cy="928688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6F337D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39439"/>
            <a:ext cx="10515600" cy="3037523"/>
          </a:xfrm>
        </p:spPr>
        <p:txBody>
          <a:bodyPr/>
          <a:lstStyle>
            <a:lvl1pPr>
              <a:defRPr sz="2000" b="1">
                <a:solidFill>
                  <a:srgbClr val="873E98"/>
                </a:solidFill>
              </a:defRPr>
            </a:lvl1pPr>
            <a:lvl2pPr>
              <a:defRPr sz="2000">
                <a:solidFill>
                  <a:srgbClr val="9B47AF"/>
                </a:solidFill>
              </a:defRPr>
            </a:lvl2pPr>
            <a:lvl3pPr>
              <a:defRPr sz="1800">
                <a:solidFill>
                  <a:srgbClr val="9B47AF"/>
                </a:solidFill>
              </a:defRPr>
            </a:lvl3pPr>
            <a:lvl4pPr>
              <a:defRPr sz="1600">
                <a:solidFill>
                  <a:srgbClr val="9B47AF"/>
                </a:solidFill>
              </a:defRPr>
            </a:lvl4pPr>
            <a:lvl5pPr>
              <a:defRPr sz="1600">
                <a:solidFill>
                  <a:srgbClr val="9B47AF"/>
                </a:solidFill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60110-7836-4232-A6FC-7B7F6B20B22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8E7C-2E04-4CF7-B789-BC58C7878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88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8139"/>
            <a:ext cx="10515600" cy="1135061"/>
          </a:xfrm>
        </p:spPr>
        <p:txBody>
          <a:bodyPr anchor="ctr">
            <a:normAutofit/>
          </a:bodyPr>
          <a:lstStyle>
            <a:lvl1pPr>
              <a:defRPr sz="4000" b="1">
                <a:solidFill>
                  <a:srgbClr val="6F337D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834641"/>
            <a:ext cx="10515600" cy="325501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873E98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7965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60110-7836-4232-A6FC-7B7F6B20B22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8E7C-2E04-4CF7-B789-BC58C7878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7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60110-7836-4232-A6FC-7B7F6B20B22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8E7C-2E04-4CF7-B789-BC58C7878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7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60110-7836-4232-A6FC-7B7F6B20B22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8E7C-2E04-4CF7-B789-BC58C7878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6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60110-7836-4232-A6FC-7B7F6B20B22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8E7C-2E04-4CF7-B789-BC58C7878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0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60110-7836-4232-A6FC-7B7F6B20B22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8E7C-2E04-4CF7-B789-BC58C7878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>
            <a:noAutofit/>
          </a:bodyPr>
          <a:lstStyle>
            <a:lvl1pPr>
              <a:defRPr sz="4000" b="1">
                <a:solidFill>
                  <a:srgbClr val="6F337D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873E9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60110-7836-4232-A6FC-7B7F6B20B22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8E7C-2E04-4CF7-B789-BC58C7878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66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60110-7836-4232-A6FC-7B7F6B20B22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8E7C-2E04-4CF7-B789-BC58C7878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7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60110-7836-4232-A6FC-7B7F6B20B22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58E7C-2E04-4CF7-B789-BC58C7878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02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60110-7836-4232-A6FC-7B7F6B20B22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58E7C-2E04-4CF7-B789-BC58C7878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28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Bank Customer Churn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0" y="3779520"/>
            <a:ext cx="6309360" cy="609600"/>
          </a:xfrm>
        </p:spPr>
        <p:txBody>
          <a:bodyPr anchor="ctr">
            <a:noAutofit/>
          </a:bodyPr>
          <a:lstStyle/>
          <a:p>
            <a:r>
              <a:rPr lang="en-US" sz="2400" dirty="0" smtClean="0"/>
              <a:t>Uncovering insights regarding customer churn from 10,000 customers’ data.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29325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the 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39439"/>
            <a:ext cx="10515600" cy="2489201"/>
          </a:xfrm>
        </p:spPr>
        <p:txBody>
          <a:bodyPr numCol="3">
            <a:normAutofit fontScale="85000" lnSpcReduction="20000"/>
          </a:bodyPr>
          <a:lstStyle/>
          <a:p>
            <a:pPr marL="0" indent="0" algn="ctr">
              <a:buNone/>
            </a:pPr>
            <a:endParaRPr lang="en-US" sz="3000" dirty="0" smtClean="0"/>
          </a:p>
          <a:p>
            <a:pPr marL="0" indent="0" algn="ctr">
              <a:buNone/>
            </a:pPr>
            <a:endParaRPr lang="en-US" sz="3000" dirty="0"/>
          </a:p>
          <a:p>
            <a:pPr marL="0" indent="0" algn="ctr">
              <a:buNone/>
            </a:pPr>
            <a:r>
              <a:rPr lang="en-US" sz="3500" dirty="0" smtClean="0"/>
              <a:t>10,000</a:t>
            </a:r>
          </a:p>
          <a:p>
            <a:pPr marL="0" indent="0" algn="ctr">
              <a:buNone/>
            </a:pPr>
            <a:r>
              <a:rPr lang="en-US" sz="2800" dirty="0" smtClean="0"/>
              <a:t>Customers’ Records</a:t>
            </a:r>
          </a:p>
          <a:p>
            <a:pPr marL="0" indent="0" algn="ctr">
              <a:buNone/>
            </a:pPr>
            <a:r>
              <a:rPr lang="en-US" sz="1800" b="0" dirty="0" smtClean="0">
                <a:solidFill>
                  <a:srgbClr val="9B47AF"/>
                </a:solidFill>
              </a:rPr>
              <a:t>Comprehensive Retention Data</a:t>
            </a:r>
          </a:p>
          <a:p>
            <a:pPr marL="0" indent="0" algn="ctr">
              <a:buNone/>
            </a:pPr>
            <a:endParaRPr lang="en-US" sz="2800" dirty="0" smtClean="0"/>
          </a:p>
          <a:p>
            <a:pPr marL="0" indent="0" algn="ctr">
              <a:buNone/>
            </a:pPr>
            <a:endParaRPr lang="en-US" sz="3000" dirty="0" smtClean="0"/>
          </a:p>
          <a:p>
            <a:pPr marL="0" indent="0" algn="ctr">
              <a:buNone/>
            </a:pPr>
            <a:endParaRPr lang="en-US" sz="3000" dirty="0"/>
          </a:p>
          <a:p>
            <a:pPr marL="0" indent="0" algn="ctr">
              <a:buNone/>
            </a:pPr>
            <a:r>
              <a:rPr lang="en-US" sz="3500" dirty="0" smtClean="0"/>
              <a:t>18</a:t>
            </a:r>
            <a:endParaRPr lang="en-US" sz="3500" dirty="0"/>
          </a:p>
          <a:p>
            <a:pPr marL="0" indent="0" algn="ctr">
              <a:buNone/>
            </a:pPr>
            <a:r>
              <a:rPr lang="en-US" sz="2800" dirty="0" smtClean="0"/>
              <a:t>Columns</a:t>
            </a:r>
          </a:p>
          <a:p>
            <a:pPr marL="0" indent="0" algn="ctr">
              <a:buNone/>
            </a:pPr>
            <a:r>
              <a:rPr lang="en-US" sz="1800" b="0" dirty="0" smtClean="0">
                <a:solidFill>
                  <a:srgbClr val="9B47AF"/>
                </a:solidFill>
              </a:rPr>
              <a:t>Customer demographics, Bank relationship, Financial Profile, etc.</a:t>
            </a:r>
          </a:p>
          <a:p>
            <a:pPr marL="0" indent="0" algn="ctr">
              <a:buNone/>
            </a:pPr>
            <a:endParaRPr lang="en-US" sz="3000" b="0" dirty="0" smtClean="0">
              <a:solidFill>
                <a:srgbClr val="9B47AF"/>
              </a:solidFill>
            </a:endParaRPr>
          </a:p>
          <a:p>
            <a:pPr marL="0" indent="0" algn="ctr">
              <a:buNone/>
            </a:pPr>
            <a:endParaRPr lang="en-US" sz="3000" b="0" dirty="0">
              <a:solidFill>
                <a:srgbClr val="9B47AF"/>
              </a:solidFill>
            </a:endParaRPr>
          </a:p>
          <a:p>
            <a:pPr marL="0" indent="0" algn="ctr">
              <a:buNone/>
            </a:pPr>
            <a:endParaRPr lang="en-US" sz="3000" b="0" dirty="0">
              <a:solidFill>
                <a:srgbClr val="9B47AF"/>
              </a:solidFill>
            </a:endParaRPr>
          </a:p>
          <a:p>
            <a:pPr marL="0" indent="0" algn="ctr">
              <a:buNone/>
            </a:pPr>
            <a:r>
              <a:rPr lang="en-US" sz="3500" dirty="0" smtClean="0"/>
              <a:t>0</a:t>
            </a:r>
          </a:p>
          <a:p>
            <a:pPr marL="0" indent="0" algn="ctr">
              <a:buNone/>
            </a:pPr>
            <a:r>
              <a:rPr lang="en-US" sz="2800" dirty="0" smtClean="0"/>
              <a:t>Missing Values</a:t>
            </a:r>
          </a:p>
          <a:p>
            <a:pPr marL="0" indent="0" algn="ctr">
              <a:buNone/>
            </a:pPr>
            <a:r>
              <a:rPr lang="en-US" sz="1800" b="0" dirty="0" smtClean="0">
                <a:solidFill>
                  <a:srgbClr val="9B47AF"/>
                </a:solidFill>
              </a:rPr>
              <a:t>There are no missing values in the dataset.</a:t>
            </a:r>
            <a:endParaRPr lang="en-US" sz="1800" b="0" dirty="0">
              <a:solidFill>
                <a:srgbClr val="9B47AF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2875280"/>
            <a:ext cx="4475480" cy="0"/>
          </a:xfrm>
          <a:prstGeom prst="line">
            <a:avLst/>
          </a:prstGeom>
          <a:ln w="38100">
            <a:solidFill>
              <a:srgbClr val="6F3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51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480" y="1425259"/>
            <a:ext cx="10515600" cy="1135061"/>
          </a:xfrm>
        </p:spPr>
        <p:txBody>
          <a:bodyPr/>
          <a:lstStyle/>
          <a:p>
            <a:r>
              <a:rPr lang="en-US" dirty="0" smtClean="0"/>
              <a:t>Data Loading and Preparation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1850" y="2397760"/>
            <a:ext cx="10515600" cy="4074160"/>
          </a:xfrm>
        </p:spPr>
        <p:txBody>
          <a:bodyPr numCol="2"/>
          <a:lstStyle/>
          <a:p>
            <a:pPr marL="457200" indent="-457200">
              <a:buAutoNum type="arabicPeriod"/>
            </a:pPr>
            <a:endParaRPr lang="en-US" b="1" u="sng" dirty="0" smtClean="0"/>
          </a:p>
          <a:p>
            <a:r>
              <a:rPr lang="en-US" sz="1800" b="1" dirty="0" smtClean="0"/>
              <a:t>1. </a:t>
            </a:r>
            <a:r>
              <a:rPr lang="en-US" sz="1800" b="1" u="sng" dirty="0" smtClean="0"/>
              <a:t>Data Loading</a:t>
            </a:r>
            <a:endParaRPr lang="en-US" b="1" u="sng" dirty="0"/>
          </a:p>
          <a:p>
            <a:r>
              <a:rPr lang="en-US" sz="1600" dirty="0" smtClean="0">
                <a:solidFill>
                  <a:srgbClr val="9B47AF"/>
                </a:solidFill>
              </a:rPr>
              <a:t>Imported dataset into Python using Pandas.</a:t>
            </a:r>
          </a:p>
          <a:p>
            <a:endParaRPr lang="en-US" sz="1600" b="1" dirty="0">
              <a:solidFill>
                <a:srgbClr val="9B47AF"/>
              </a:solidFill>
            </a:endParaRPr>
          </a:p>
          <a:p>
            <a:r>
              <a:rPr lang="en-US" sz="1800" b="1" dirty="0" smtClean="0"/>
              <a:t>2. </a:t>
            </a:r>
            <a:r>
              <a:rPr lang="en-US" sz="1800" b="1" u="sng" dirty="0" smtClean="0"/>
              <a:t>Initial Exploration</a:t>
            </a:r>
            <a:endParaRPr lang="en-US" sz="2400" b="1" u="sng" dirty="0" smtClean="0"/>
          </a:p>
          <a:p>
            <a:r>
              <a:rPr lang="en-US" sz="1600" dirty="0" smtClean="0">
                <a:solidFill>
                  <a:srgbClr val="9B47AF"/>
                </a:solidFill>
              </a:rPr>
              <a:t>Checked the structure of the dataset and the summary statistics.</a:t>
            </a:r>
          </a:p>
          <a:p>
            <a:endParaRPr lang="en-US" sz="1800" b="1" dirty="0" smtClean="0"/>
          </a:p>
          <a:p>
            <a:r>
              <a:rPr lang="en-US" sz="1800" b="1" dirty="0" smtClean="0"/>
              <a:t>3. </a:t>
            </a:r>
            <a:r>
              <a:rPr lang="en-US" sz="1800" b="1" u="sng" dirty="0" smtClean="0"/>
              <a:t>Null Check</a:t>
            </a:r>
          </a:p>
          <a:p>
            <a:r>
              <a:rPr lang="en-US" sz="1600" dirty="0" smtClean="0">
                <a:solidFill>
                  <a:srgbClr val="9B47AF"/>
                </a:solidFill>
              </a:rPr>
              <a:t>Checked for any null values within the dataset, there weren’t any.</a:t>
            </a:r>
          </a:p>
          <a:p>
            <a:endParaRPr lang="en-US" sz="1600" dirty="0" smtClean="0">
              <a:solidFill>
                <a:srgbClr val="9B47AF"/>
              </a:solidFill>
            </a:endParaRPr>
          </a:p>
          <a:p>
            <a:endParaRPr lang="en-US" sz="1600" dirty="0" smtClean="0">
              <a:solidFill>
                <a:srgbClr val="9B47AF"/>
              </a:solidFill>
            </a:endParaRPr>
          </a:p>
          <a:p>
            <a:r>
              <a:rPr lang="en-US" sz="1800" b="1" dirty="0" smtClean="0"/>
              <a:t>4. </a:t>
            </a:r>
            <a:r>
              <a:rPr lang="en-US" sz="1800" b="1" u="sng" dirty="0" smtClean="0"/>
              <a:t>Standardizing Columns</a:t>
            </a:r>
          </a:p>
          <a:p>
            <a:r>
              <a:rPr lang="en-US" sz="1600" dirty="0" smtClean="0">
                <a:solidFill>
                  <a:srgbClr val="9B47AF"/>
                </a:solidFill>
              </a:rPr>
              <a:t>Standardized the column names for better readability and documentation.</a:t>
            </a:r>
          </a:p>
          <a:p>
            <a:endParaRPr lang="en-US" sz="1600" dirty="0">
              <a:solidFill>
                <a:srgbClr val="9B47AF"/>
              </a:solidFill>
            </a:endParaRPr>
          </a:p>
          <a:p>
            <a:r>
              <a:rPr lang="en-US" sz="1800" b="1" dirty="0" smtClean="0"/>
              <a:t>5. </a:t>
            </a:r>
            <a:r>
              <a:rPr lang="en-US" sz="1800" b="1" u="sng" dirty="0" smtClean="0"/>
              <a:t>Feature Engineering</a:t>
            </a:r>
          </a:p>
          <a:p>
            <a:r>
              <a:rPr lang="en-US" sz="1600" dirty="0" smtClean="0">
                <a:solidFill>
                  <a:srgbClr val="9B47AF"/>
                </a:solidFill>
              </a:rPr>
              <a:t>Created 2 new columns from </a:t>
            </a:r>
            <a:r>
              <a:rPr lang="en-US" sz="1600" dirty="0" err="1" smtClean="0">
                <a:solidFill>
                  <a:srgbClr val="9B47AF"/>
                </a:solidFill>
              </a:rPr>
              <a:t>age_group</a:t>
            </a:r>
            <a:r>
              <a:rPr lang="en-US" sz="1600" dirty="0" smtClean="0">
                <a:solidFill>
                  <a:srgbClr val="9B47AF"/>
                </a:solidFill>
              </a:rPr>
              <a:t> and </a:t>
            </a:r>
            <a:r>
              <a:rPr lang="en-US" sz="1600" dirty="0" err="1" smtClean="0">
                <a:solidFill>
                  <a:srgbClr val="9B47AF"/>
                </a:solidFill>
              </a:rPr>
              <a:t>credit_score_range</a:t>
            </a:r>
            <a:r>
              <a:rPr lang="en-US" sz="1600" dirty="0" smtClean="0">
                <a:solidFill>
                  <a:srgbClr val="9B47AF"/>
                </a:solidFill>
              </a:rPr>
              <a:t>.</a:t>
            </a:r>
            <a:endParaRPr lang="en-US" sz="1600" dirty="0">
              <a:solidFill>
                <a:srgbClr val="9B47AF"/>
              </a:solidFill>
            </a:endParaRPr>
          </a:p>
          <a:p>
            <a:endParaRPr lang="en-US" sz="1600" dirty="0">
              <a:solidFill>
                <a:srgbClr val="9B47AF"/>
              </a:solidFill>
            </a:endParaRPr>
          </a:p>
          <a:p>
            <a:r>
              <a:rPr lang="en-US" sz="1800" b="1" dirty="0" smtClean="0"/>
              <a:t>6. </a:t>
            </a:r>
            <a:r>
              <a:rPr lang="en-US" sz="1800" b="1" u="sng" dirty="0" smtClean="0"/>
              <a:t>Database Connection</a:t>
            </a:r>
          </a:p>
          <a:p>
            <a:r>
              <a:rPr lang="en-US" sz="1600" dirty="0" smtClean="0">
                <a:solidFill>
                  <a:srgbClr val="9B47AF"/>
                </a:solidFill>
              </a:rPr>
              <a:t>Connected Python to PostgreSQL for further analysis.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031240" y="2255520"/>
            <a:ext cx="7259320" cy="10160"/>
          </a:xfrm>
          <a:prstGeom prst="line">
            <a:avLst/>
          </a:prstGeom>
          <a:ln w="38100">
            <a:solidFill>
              <a:srgbClr val="6F3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00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9788" y="457200"/>
            <a:ext cx="5359031" cy="1600200"/>
          </a:xfrm>
        </p:spPr>
        <p:txBody>
          <a:bodyPr/>
          <a:lstStyle/>
          <a:p>
            <a:r>
              <a:rPr lang="en-US" dirty="0" smtClean="0"/>
              <a:t>Churned Customers by Activity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359031" cy="3811588"/>
          </a:xfrm>
        </p:spPr>
        <p:txBody>
          <a:bodyPr/>
          <a:lstStyle/>
          <a:p>
            <a:endParaRPr lang="en-US" b="1" dirty="0" smtClean="0"/>
          </a:p>
          <a:p>
            <a:r>
              <a:rPr lang="en-US" b="1" dirty="0" smtClean="0"/>
              <a:t>Key Insights</a:t>
            </a:r>
          </a:p>
          <a:p>
            <a:r>
              <a:rPr lang="en-US" sz="1600" dirty="0" smtClean="0">
                <a:solidFill>
                  <a:srgbClr val="9B47AF"/>
                </a:solidFill>
              </a:rPr>
              <a:t>The churn rate for inactive customers is a lot higher, 63.94% as compared to that of active customers, 36.06%.</a:t>
            </a:r>
          </a:p>
          <a:p>
            <a:endParaRPr lang="en-US" sz="1600" dirty="0" smtClean="0">
              <a:solidFill>
                <a:srgbClr val="9B47AF"/>
              </a:solidFill>
            </a:endParaRPr>
          </a:p>
          <a:p>
            <a:r>
              <a:rPr lang="en-US" sz="1800" dirty="0" smtClean="0">
                <a:solidFill>
                  <a:srgbClr val="9B47AF"/>
                </a:solidFill>
              </a:rPr>
              <a:t>A reactivation campaign can be started to try and get these customers back.</a:t>
            </a:r>
            <a:endParaRPr lang="en-US" sz="1800" dirty="0">
              <a:solidFill>
                <a:srgbClr val="9B47AF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9788" y="1849120"/>
            <a:ext cx="5164772" cy="20320"/>
          </a:xfrm>
          <a:prstGeom prst="line">
            <a:avLst/>
          </a:prstGeom>
          <a:ln w="38100">
            <a:solidFill>
              <a:srgbClr val="6F3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162" y="1257300"/>
            <a:ext cx="4392358" cy="400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4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Depth 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8200" y="2499360"/>
            <a:ext cx="10515600" cy="3255010"/>
          </a:xfrm>
        </p:spPr>
        <p:txBody>
          <a:bodyPr>
            <a:normAutofit lnSpcReduction="10000"/>
          </a:bodyPr>
          <a:lstStyle/>
          <a:p>
            <a:endParaRPr lang="en-US" b="1" dirty="0" smtClean="0"/>
          </a:p>
          <a:p>
            <a:r>
              <a:rPr lang="en-US" b="1" dirty="0" smtClean="0"/>
              <a:t>Customers who buy 3 or 4 products tend to churn more</a:t>
            </a:r>
          </a:p>
          <a:p>
            <a:endParaRPr lang="en-US" b="1" dirty="0">
              <a:solidFill>
                <a:srgbClr val="9B47AF"/>
              </a:solidFill>
            </a:endParaRPr>
          </a:p>
          <a:p>
            <a:r>
              <a:rPr lang="en-US" b="1" dirty="0" smtClean="0">
                <a:solidFill>
                  <a:srgbClr val="9B47AF"/>
                </a:solidFill>
              </a:rPr>
              <a:t>	2 products:-</a:t>
            </a:r>
            <a:br>
              <a:rPr lang="en-US" b="1" dirty="0" smtClean="0">
                <a:solidFill>
                  <a:srgbClr val="9B47AF"/>
                </a:solidFill>
              </a:rPr>
            </a:br>
            <a:r>
              <a:rPr lang="en-US" b="1" dirty="0" smtClean="0">
                <a:solidFill>
                  <a:srgbClr val="9B47AF"/>
                </a:solidFill>
              </a:rPr>
              <a:t>	</a:t>
            </a:r>
            <a:r>
              <a:rPr lang="en-US" sz="1800" dirty="0" smtClean="0">
                <a:solidFill>
                  <a:srgbClr val="9B47AF"/>
                </a:solidFill>
              </a:rPr>
              <a:t>Customers who buy 2 products tend to have the lowest churn rate, 7.6%.</a:t>
            </a:r>
          </a:p>
          <a:p>
            <a:r>
              <a:rPr lang="en-US" sz="1800" b="1" dirty="0">
                <a:solidFill>
                  <a:srgbClr val="9B47AF"/>
                </a:solidFill>
              </a:rPr>
              <a:t>	</a:t>
            </a:r>
            <a:endParaRPr lang="en-US" sz="1800" b="1" dirty="0" smtClean="0">
              <a:solidFill>
                <a:srgbClr val="9B47AF"/>
              </a:solidFill>
            </a:endParaRPr>
          </a:p>
          <a:p>
            <a:r>
              <a:rPr lang="en-US" sz="1800" b="1" dirty="0">
                <a:solidFill>
                  <a:srgbClr val="9B47AF"/>
                </a:solidFill>
              </a:rPr>
              <a:t>	</a:t>
            </a:r>
            <a:r>
              <a:rPr lang="en-US" b="1" dirty="0" smtClean="0">
                <a:solidFill>
                  <a:srgbClr val="9B47AF"/>
                </a:solidFill>
              </a:rPr>
              <a:t>3 or 4 products:-</a:t>
            </a:r>
            <a:br>
              <a:rPr lang="en-US" b="1" dirty="0" smtClean="0">
                <a:solidFill>
                  <a:srgbClr val="9B47AF"/>
                </a:solidFill>
              </a:rPr>
            </a:br>
            <a:r>
              <a:rPr lang="en-US" b="1" dirty="0" smtClean="0">
                <a:solidFill>
                  <a:srgbClr val="9B47AF"/>
                </a:solidFill>
              </a:rPr>
              <a:t>	</a:t>
            </a:r>
            <a:r>
              <a:rPr lang="en-US" sz="1800" dirty="0" smtClean="0">
                <a:solidFill>
                  <a:srgbClr val="9B47AF"/>
                </a:solidFill>
              </a:rPr>
              <a:t>Customers who buy 3 or 4 products tend to have the highest churn rate, 82.71% 	and 100%. It is worth looking into the cause for this before promoting any 	strategies for selling more than 2 products.</a:t>
            </a:r>
            <a:endParaRPr lang="en-US" b="1" dirty="0">
              <a:solidFill>
                <a:srgbClr val="9B47AF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838200" y="2468880"/>
            <a:ext cx="3601720" cy="30480"/>
          </a:xfrm>
          <a:prstGeom prst="line">
            <a:avLst/>
          </a:prstGeom>
          <a:ln w="38100">
            <a:solidFill>
              <a:srgbClr val="6F3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97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3041"/>
            <a:ext cx="10515600" cy="1280160"/>
          </a:xfrm>
        </p:spPr>
        <p:txBody>
          <a:bodyPr>
            <a:normAutofit/>
          </a:bodyPr>
          <a:lstStyle/>
          <a:p>
            <a:r>
              <a:rPr lang="en-US" dirty="0" smtClean="0"/>
              <a:t>Top 3 Age Groups by Churn Rate in each Country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834641"/>
            <a:ext cx="10515600" cy="2448559"/>
          </a:xfrm>
        </p:spPr>
        <p:txBody>
          <a:bodyPr numCol="3">
            <a:normAutofit fontScale="92500" lnSpcReduction="20000"/>
          </a:bodyPr>
          <a:lstStyle/>
          <a:p>
            <a:pPr algn="ctr"/>
            <a:endParaRPr lang="en-US" b="1" dirty="0" smtClean="0"/>
          </a:p>
          <a:p>
            <a:pPr algn="ctr"/>
            <a:endParaRPr lang="en-US" sz="2400" b="1" u="sng" dirty="0" smtClean="0"/>
          </a:p>
          <a:p>
            <a:pPr algn="ctr"/>
            <a:r>
              <a:rPr lang="en-US" sz="2600" b="1" u="sng" dirty="0" smtClean="0"/>
              <a:t>France</a:t>
            </a:r>
          </a:p>
          <a:p>
            <a:pPr algn="ctr"/>
            <a:r>
              <a:rPr lang="en-US" sz="2200" b="1" dirty="0" smtClean="0">
                <a:solidFill>
                  <a:srgbClr val="9B47AF"/>
                </a:solidFill>
              </a:rPr>
              <a:t>Senior: </a:t>
            </a:r>
            <a:r>
              <a:rPr lang="en-US" sz="2200" dirty="0" smtClean="0">
                <a:solidFill>
                  <a:srgbClr val="9B47AF"/>
                </a:solidFill>
              </a:rPr>
              <a:t>38.7%</a:t>
            </a:r>
          </a:p>
          <a:p>
            <a:pPr algn="ctr"/>
            <a:r>
              <a:rPr lang="en-US" sz="2200" b="1" dirty="0" smtClean="0">
                <a:solidFill>
                  <a:srgbClr val="9B47AF"/>
                </a:solidFill>
              </a:rPr>
              <a:t>Middle-Aged: </a:t>
            </a:r>
            <a:r>
              <a:rPr lang="en-US" sz="2200" dirty="0" smtClean="0">
                <a:solidFill>
                  <a:srgbClr val="9B47AF"/>
                </a:solidFill>
              </a:rPr>
              <a:t>17.02%</a:t>
            </a:r>
            <a:endParaRPr lang="en-US" sz="2200" b="1" dirty="0" smtClean="0">
              <a:solidFill>
                <a:srgbClr val="9B47AF"/>
              </a:solidFill>
            </a:endParaRPr>
          </a:p>
          <a:p>
            <a:pPr algn="ctr"/>
            <a:r>
              <a:rPr lang="en-US" sz="2200" b="1" dirty="0" smtClean="0">
                <a:solidFill>
                  <a:srgbClr val="9B47AF"/>
                </a:solidFill>
              </a:rPr>
              <a:t>Adult: </a:t>
            </a:r>
            <a:r>
              <a:rPr lang="en-US" sz="2200" dirty="0" smtClean="0">
                <a:solidFill>
                  <a:srgbClr val="9B47AF"/>
                </a:solidFill>
              </a:rPr>
              <a:t>8.33%</a:t>
            </a:r>
          </a:p>
          <a:p>
            <a:pPr algn="ctr"/>
            <a:endParaRPr lang="en-US" b="1" dirty="0" smtClean="0">
              <a:solidFill>
                <a:srgbClr val="9B47AF"/>
              </a:solidFill>
            </a:endParaRPr>
          </a:p>
          <a:p>
            <a:pPr algn="ctr"/>
            <a:endParaRPr lang="en-US" b="1" dirty="0" smtClean="0">
              <a:solidFill>
                <a:srgbClr val="9B47AF"/>
              </a:solidFill>
            </a:endParaRPr>
          </a:p>
          <a:p>
            <a:pPr algn="ctr"/>
            <a:endParaRPr lang="en-US" sz="2400" b="1" dirty="0">
              <a:solidFill>
                <a:srgbClr val="9B47AF"/>
              </a:solidFill>
            </a:endParaRPr>
          </a:p>
          <a:p>
            <a:pPr algn="ctr"/>
            <a:r>
              <a:rPr lang="en-US" sz="2400" b="1" u="sng" dirty="0" smtClean="0"/>
              <a:t>Germany</a:t>
            </a:r>
            <a:endParaRPr lang="en-US" sz="2400" b="1" u="sng" dirty="0"/>
          </a:p>
          <a:p>
            <a:pPr algn="ctr"/>
            <a:r>
              <a:rPr lang="en-US" b="1" dirty="0" smtClean="0">
                <a:solidFill>
                  <a:srgbClr val="9B47AF"/>
                </a:solidFill>
              </a:rPr>
              <a:t>Senior: </a:t>
            </a:r>
            <a:r>
              <a:rPr lang="en-US" dirty="0" smtClean="0">
                <a:solidFill>
                  <a:srgbClr val="9B47AF"/>
                </a:solidFill>
              </a:rPr>
              <a:t>61.63%</a:t>
            </a:r>
            <a:endParaRPr lang="en-US" b="1" dirty="0" smtClean="0">
              <a:solidFill>
                <a:srgbClr val="9B47AF"/>
              </a:solidFill>
            </a:endParaRPr>
          </a:p>
          <a:p>
            <a:pPr algn="ctr"/>
            <a:r>
              <a:rPr lang="en-US" b="1" dirty="0" smtClean="0">
                <a:solidFill>
                  <a:srgbClr val="9B47AF"/>
                </a:solidFill>
              </a:rPr>
              <a:t>Middle-Aged: </a:t>
            </a:r>
            <a:r>
              <a:rPr lang="en-US" dirty="0" smtClean="0">
                <a:solidFill>
                  <a:srgbClr val="9B47AF"/>
                </a:solidFill>
              </a:rPr>
              <a:t>32.15%</a:t>
            </a:r>
            <a:endParaRPr lang="en-US" b="1" dirty="0" smtClean="0">
              <a:solidFill>
                <a:srgbClr val="9B47AF"/>
              </a:solidFill>
            </a:endParaRPr>
          </a:p>
          <a:p>
            <a:pPr algn="ctr"/>
            <a:r>
              <a:rPr lang="en-US" b="1" dirty="0" smtClean="0">
                <a:solidFill>
                  <a:srgbClr val="9B47AF"/>
                </a:solidFill>
              </a:rPr>
              <a:t>Adult: </a:t>
            </a:r>
            <a:r>
              <a:rPr lang="en-US" dirty="0" smtClean="0">
                <a:solidFill>
                  <a:srgbClr val="9B47AF"/>
                </a:solidFill>
              </a:rPr>
              <a:t>19.4%</a:t>
            </a:r>
          </a:p>
          <a:p>
            <a:pPr algn="ctr"/>
            <a:endParaRPr lang="en-US" b="1" dirty="0">
              <a:solidFill>
                <a:srgbClr val="9B47AF"/>
              </a:solidFill>
            </a:endParaRPr>
          </a:p>
          <a:p>
            <a:pPr algn="ctr"/>
            <a:endParaRPr lang="en-US" b="1" dirty="0" smtClean="0">
              <a:solidFill>
                <a:srgbClr val="9B47AF"/>
              </a:solidFill>
            </a:endParaRPr>
          </a:p>
          <a:p>
            <a:pPr algn="ctr"/>
            <a:endParaRPr lang="en-US" sz="2400" b="1" dirty="0" smtClean="0">
              <a:solidFill>
                <a:srgbClr val="9B47AF"/>
              </a:solidFill>
            </a:endParaRPr>
          </a:p>
          <a:p>
            <a:pPr algn="ctr"/>
            <a:r>
              <a:rPr lang="en-US" sz="2400" b="1" u="sng" dirty="0" smtClean="0"/>
              <a:t>Spain</a:t>
            </a:r>
          </a:p>
          <a:p>
            <a:pPr algn="ctr"/>
            <a:r>
              <a:rPr lang="en-US" b="1" dirty="0" smtClean="0">
                <a:solidFill>
                  <a:srgbClr val="9B47AF"/>
                </a:solidFill>
              </a:rPr>
              <a:t>Senior: </a:t>
            </a:r>
            <a:r>
              <a:rPr lang="en-US" dirty="0" smtClean="0">
                <a:solidFill>
                  <a:srgbClr val="9B47AF"/>
                </a:solidFill>
              </a:rPr>
              <a:t>35.31%</a:t>
            </a:r>
            <a:endParaRPr lang="en-US" b="1" dirty="0" smtClean="0">
              <a:solidFill>
                <a:srgbClr val="9B47AF"/>
              </a:solidFill>
            </a:endParaRPr>
          </a:p>
          <a:p>
            <a:pPr algn="ctr"/>
            <a:r>
              <a:rPr lang="en-US" b="1" dirty="0" smtClean="0">
                <a:solidFill>
                  <a:srgbClr val="9B47AF"/>
                </a:solidFill>
              </a:rPr>
              <a:t>Middle-Aged: </a:t>
            </a:r>
            <a:r>
              <a:rPr lang="en-US" dirty="0" smtClean="0">
                <a:solidFill>
                  <a:srgbClr val="9B47AF"/>
                </a:solidFill>
              </a:rPr>
              <a:t>16.36%</a:t>
            </a:r>
          </a:p>
          <a:p>
            <a:pPr algn="ctr"/>
            <a:r>
              <a:rPr lang="en-US" b="1" dirty="0" smtClean="0">
                <a:solidFill>
                  <a:srgbClr val="9B47AF"/>
                </a:solidFill>
              </a:rPr>
              <a:t>Young-Adult: </a:t>
            </a:r>
            <a:r>
              <a:rPr lang="en-US" dirty="0" smtClean="0">
                <a:solidFill>
                  <a:srgbClr val="9B47AF"/>
                </a:solidFill>
              </a:rPr>
              <a:t>8.47%</a:t>
            </a:r>
            <a:endParaRPr lang="en-US" dirty="0">
              <a:solidFill>
                <a:srgbClr val="9B47AF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838200" y="2743201"/>
            <a:ext cx="10073640" cy="0"/>
          </a:xfrm>
          <a:prstGeom prst="line">
            <a:avLst/>
          </a:prstGeom>
          <a:ln w="38100">
            <a:solidFill>
              <a:srgbClr val="6F3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5283200"/>
            <a:ext cx="9997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9B47AF"/>
                </a:solidFill>
              </a:rPr>
              <a:t>In all the countries mentioned, the churn rate for senior customers tends to be higher when compared to the rest of the age groups (France – 38.7%, Germany – 61.63%, and Spain – 35.31%)</a:t>
            </a:r>
            <a:endParaRPr lang="en-US" sz="1600" dirty="0">
              <a:solidFill>
                <a:srgbClr val="9B47A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543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880" y="457200"/>
            <a:ext cx="5384800" cy="1600200"/>
          </a:xfrm>
        </p:spPr>
        <p:txBody>
          <a:bodyPr/>
          <a:lstStyle/>
          <a:p>
            <a:r>
              <a:rPr lang="en-US" dirty="0" smtClean="0"/>
              <a:t>Churn Rate by Age Group and Activity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164772" cy="3811588"/>
          </a:xfrm>
        </p:spPr>
        <p:txBody>
          <a:bodyPr/>
          <a:lstStyle/>
          <a:p>
            <a:endParaRPr lang="en-US" dirty="0" smtClean="0"/>
          </a:p>
          <a:p>
            <a:r>
              <a:rPr lang="en-US" b="1" dirty="0" smtClean="0"/>
              <a:t>Female Customers:-</a:t>
            </a:r>
          </a:p>
          <a:p>
            <a:r>
              <a:rPr lang="en-US" sz="1800" dirty="0" smtClean="0">
                <a:solidFill>
                  <a:srgbClr val="9B47AF"/>
                </a:solidFill>
              </a:rPr>
              <a:t>The churn rate for active female customers (18.13%) is lower than that of inactive customers (32.09%).</a:t>
            </a:r>
          </a:p>
          <a:p>
            <a:endParaRPr lang="en-US" sz="1800" b="1" dirty="0">
              <a:solidFill>
                <a:srgbClr val="9B47AF"/>
              </a:solidFill>
            </a:endParaRPr>
          </a:p>
          <a:p>
            <a:r>
              <a:rPr lang="en-US" b="1" dirty="0" smtClean="0"/>
              <a:t>Male Customers:-</a:t>
            </a:r>
            <a:endParaRPr lang="en-US" b="1" dirty="0"/>
          </a:p>
          <a:p>
            <a:r>
              <a:rPr lang="en-US" sz="1800" dirty="0" smtClean="0">
                <a:solidFill>
                  <a:srgbClr val="9B47AF"/>
                </a:solidFill>
              </a:rPr>
              <a:t>Similarly for male customers, the active customers have a lower churn rate (11.20%)  compared to inactive customers (22.32%).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827882" y="1838960"/>
            <a:ext cx="5032692" cy="10162"/>
          </a:xfrm>
          <a:prstGeom prst="line">
            <a:avLst/>
          </a:prstGeom>
          <a:ln w="38100">
            <a:solidFill>
              <a:srgbClr val="6F3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160" y="711130"/>
            <a:ext cx="5426099" cy="532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62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850" y="1323659"/>
            <a:ext cx="10515600" cy="1135061"/>
          </a:xfrm>
        </p:spPr>
        <p:txBody>
          <a:bodyPr/>
          <a:lstStyle/>
          <a:p>
            <a:r>
              <a:rPr lang="en-US" dirty="0" smtClean="0"/>
              <a:t>Business Recommendations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1850" y="2296160"/>
            <a:ext cx="10515600" cy="3793491"/>
          </a:xfrm>
        </p:spPr>
        <p:txBody>
          <a:bodyPr>
            <a:normAutofit fontScale="92500" lnSpcReduction="10000"/>
          </a:bodyPr>
          <a:lstStyle/>
          <a:p>
            <a:endParaRPr lang="en-US" b="1" dirty="0" smtClean="0"/>
          </a:p>
          <a:p>
            <a:r>
              <a:rPr lang="en-US" sz="1900" b="1" dirty="0" err="1" smtClean="0"/>
              <a:t>i</a:t>
            </a:r>
            <a:r>
              <a:rPr lang="en-US" sz="1900" b="1" dirty="0" smtClean="0"/>
              <a:t>) Gender </a:t>
            </a:r>
            <a:r>
              <a:rPr lang="en-US" sz="1900" b="1" dirty="0"/>
              <a:t>Targeted Efforts –</a:t>
            </a:r>
            <a:r>
              <a:rPr lang="en-US" b="1" dirty="0"/>
              <a:t> </a:t>
            </a:r>
            <a:r>
              <a:rPr lang="en-US" sz="1700" dirty="0">
                <a:solidFill>
                  <a:srgbClr val="9B47AF"/>
                </a:solidFill>
              </a:rPr>
              <a:t>Female </a:t>
            </a:r>
            <a:r>
              <a:rPr lang="en-US" sz="1700" dirty="0" smtClean="0">
                <a:solidFill>
                  <a:srgbClr val="9B47AF"/>
                </a:solidFill>
              </a:rPr>
              <a:t>customers </a:t>
            </a:r>
            <a:r>
              <a:rPr lang="en-US" sz="1700" dirty="0">
                <a:solidFill>
                  <a:srgbClr val="9B47AF"/>
                </a:solidFill>
              </a:rPr>
              <a:t>make up 60.35% of all churners vs 39.65% for male </a:t>
            </a:r>
            <a:r>
              <a:rPr lang="en-US" sz="1700" dirty="0" smtClean="0">
                <a:solidFill>
                  <a:srgbClr val="9B47AF"/>
                </a:solidFill>
              </a:rPr>
              <a:t>customers</a:t>
            </a:r>
            <a:r>
              <a:rPr lang="en-US" sz="1700" dirty="0">
                <a:solidFill>
                  <a:srgbClr val="9B47AF"/>
                </a:solidFill>
              </a:rPr>
              <a:t>, investigate the reason for it and apply some targeted retention schemes based on </a:t>
            </a:r>
            <a:r>
              <a:rPr lang="en-US" sz="1700" dirty="0" smtClean="0">
                <a:solidFill>
                  <a:srgbClr val="9B47AF"/>
                </a:solidFill>
              </a:rPr>
              <a:t>customer </a:t>
            </a:r>
            <a:r>
              <a:rPr lang="en-US" sz="1700" dirty="0">
                <a:solidFill>
                  <a:srgbClr val="9B47AF"/>
                </a:solidFill>
              </a:rPr>
              <a:t>behavior and needs</a:t>
            </a:r>
            <a:r>
              <a:rPr lang="en-US" sz="1700" dirty="0" smtClean="0">
                <a:solidFill>
                  <a:srgbClr val="9B47AF"/>
                </a:solidFill>
              </a:rPr>
              <a:t>.</a:t>
            </a:r>
          </a:p>
          <a:p>
            <a:pPr marL="514350" indent="-514350">
              <a:buAutoNum type="romanLcParenR"/>
            </a:pPr>
            <a:endParaRPr lang="en-US" dirty="0"/>
          </a:p>
          <a:p>
            <a:r>
              <a:rPr lang="en-US" sz="1900" b="1" dirty="0" smtClean="0"/>
              <a:t>ii</a:t>
            </a:r>
            <a:r>
              <a:rPr lang="en-US" sz="1900" b="1" dirty="0"/>
              <a:t>) Product Depth Strategy –</a:t>
            </a:r>
            <a:r>
              <a:rPr lang="en-US" b="1" dirty="0"/>
              <a:t> </a:t>
            </a:r>
            <a:r>
              <a:rPr lang="en-US" sz="1700" dirty="0">
                <a:solidFill>
                  <a:srgbClr val="9B47AF"/>
                </a:solidFill>
              </a:rPr>
              <a:t>Customers with 2 products tend to have the lowest churn rate, 7.6%, </a:t>
            </a:r>
            <a:r>
              <a:rPr lang="en-US" sz="1700" dirty="0" smtClean="0">
                <a:solidFill>
                  <a:srgbClr val="9B47AF"/>
                </a:solidFill>
              </a:rPr>
              <a:t>while </a:t>
            </a:r>
            <a:r>
              <a:rPr lang="en-US" sz="1700" dirty="0">
                <a:solidFill>
                  <a:srgbClr val="9B47AF"/>
                </a:solidFill>
              </a:rPr>
              <a:t>those who purchase 3 or 4 products have the highest churn rate, 82.71% and 100%. Though the </a:t>
            </a:r>
            <a:r>
              <a:rPr lang="en-US" sz="1700" dirty="0" smtClean="0">
                <a:solidFill>
                  <a:srgbClr val="9B47AF"/>
                </a:solidFill>
              </a:rPr>
              <a:t>last </a:t>
            </a:r>
            <a:r>
              <a:rPr lang="en-US" sz="1700" dirty="0">
                <a:solidFill>
                  <a:srgbClr val="9B47AF"/>
                </a:solidFill>
              </a:rPr>
              <a:t>2 categories have lesser amount of customers, it is still worth investigating the cause behind this </a:t>
            </a:r>
            <a:r>
              <a:rPr lang="en-US" sz="1700" dirty="0" smtClean="0">
                <a:solidFill>
                  <a:srgbClr val="9B47AF"/>
                </a:solidFill>
              </a:rPr>
              <a:t>(</a:t>
            </a:r>
            <a:r>
              <a:rPr lang="en-US" sz="1700" dirty="0">
                <a:solidFill>
                  <a:srgbClr val="9B47AF"/>
                </a:solidFill>
              </a:rPr>
              <a:t>for example – price, fees, product fit etc.), before promoting any selling further than 2 products</a:t>
            </a:r>
            <a:r>
              <a:rPr lang="en-US" sz="1700" dirty="0" smtClean="0">
                <a:solidFill>
                  <a:srgbClr val="9B47AF"/>
                </a:solidFill>
              </a:rPr>
              <a:t>.</a:t>
            </a:r>
          </a:p>
          <a:p>
            <a:endParaRPr lang="en-US" dirty="0"/>
          </a:p>
          <a:p>
            <a:r>
              <a:rPr lang="en-US" sz="1900" b="1" dirty="0" smtClean="0"/>
              <a:t>iii</a:t>
            </a:r>
            <a:r>
              <a:rPr lang="en-US" sz="1900" b="1" dirty="0"/>
              <a:t>) Region Based Efforts –</a:t>
            </a:r>
            <a:r>
              <a:rPr lang="en-US" b="1" dirty="0"/>
              <a:t> </a:t>
            </a:r>
            <a:r>
              <a:rPr lang="en-US" sz="1700" dirty="0">
                <a:solidFill>
                  <a:srgbClr val="9B47AF"/>
                </a:solidFill>
              </a:rPr>
              <a:t>Germany’s churn rate is 32.44% as compared to Spain and France’s 16.67% </a:t>
            </a:r>
            <a:r>
              <a:rPr lang="en-US" sz="1700" dirty="0" smtClean="0">
                <a:solidFill>
                  <a:srgbClr val="9B47AF"/>
                </a:solidFill>
              </a:rPr>
              <a:t>and </a:t>
            </a:r>
            <a:r>
              <a:rPr lang="en-US" sz="1700" dirty="0">
                <a:solidFill>
                  <a:srgbClr val="9B47AF"/>
                </a:solidFill>
              </a:rPr>
              <a:t>16.17%, look into the reasons for it and rectify it using some targeted retention strategies, and </a:t>
            </a:r>
            <a:r>
              <a:rPr lang="en-US" sz="1700" dirty="0" smtClean="0">
                <a:solidFill>
                  <a:srgbClr val="9B47AF"/>
                </a:solidFill>
              </a:rPr>
              <a:t>track </a:t>
            </a:r>
            <a:r>
              <a:rPr lang="en-US" sz="1700" dirty="0">
                <a:solidFill>
                  <a:srgbClr val="9B47AF"/>
                </a:solidFill>
              </a:rPr>
              <a:t>the churn rate quarterly</a:t>
            </a:r>
            <a:r>
              <a:rPr lang="en-US" sz="1700" dirty="0" smtClean="0">
                <a:solidFill>
                  <a:srgbClr val="9B47AF"/>
                </a:solidFill>
              </a:rPr>
              <a:t>.</a:t>
            </a:r>
          </a:p>
          <a:p>
            <a:endParaRPr lang="en-US" dirty="0"/>
          </a:p>
          <a:p>
            <a:endParaRPr lang="en-US" b="1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949802" y="2123440"/>
            <a:ext cx="6527958" cy="10162"/>
          </a:xfrm>
          <a:prstGeom prst="line">
            <a:avLst/>
          </a:prstGeom>
          <a:ln w="38100">
            <a:solidFill>
              <a:srgbClr val="6F3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540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ustom 1">
      <a:majorFont>
        <a:latin typeface="Century"/>
        <a:ea typeface=""/>
        <a:cs typeface=""/>
      </a:majorFont>
      <a:minorFont>
        <a:latin typeface="Bookman Old Style"/>
        <a:ea typeface=""/>
        <a:cs typeface="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GreenGeometric</Template>
  <TotalTime>211</TotalTime>
  <Words>503</Words>
  <Application>Microsoft Office PowerPoint</Application>
  <PresentationFormat>Widescreen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Century</vt:lpstr>
      <vt:lpstr>Office Theme</vt:lpstr>
      <vt:lpstr>Bank Customer Churn Analysis</vt:lpstr>
      <vt:lpstr>About the Dataset</vt:lpstr>
      <vt:lpstr>Data Loading and Preparation</vt:lpstr>
      <vt:lpstr>Churned Customers by Activity</vt:lpstr>
      <vt:lpstr>Product Depth </vt:lpstr>
      <vt:lpstr>Top 3 Age Groups by Churn Rate in each Country</vt:lpstr>
      <vt:lpstr>Churn Rate by Age Group and Activity</vt:lpstr>
      <vt:lpstr>Business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15</cp:revision>
  <dcterms:created xsi:type="dcterms:W3CDTF">2026-09-21T07:44:35Z</dcterms:created>
  <dcterms:modified xsi:type="dcterms:W3CDTF">2026-09-21T11:15:36Z</dcterms:modified>
</cp:coreProperties>
</file>